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6" r:id="rId9"/>
    <p:sldId id="268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u="sng" dirty="0" err="1" smtClean="0"/>
              <a:t>Датасет</a:t>
            </a:r>
            <a:r>
              <a:rPr lang="ru-RU" u="sng" dirty="0" smtClean="0"/>
              <a:t>: </a:t>
            </a:r>
            <a:r>
              <a:rPr lang="ru-RU" dirty="0" smtClean="0"/>
              <a:t>Факторы успеваемости студентов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4955" y="5094514"/>
            <a:ext cx="8825658" cy="544286"/>
          </a:xfrm>
        </p:spPr>
        <p:txBody>
          <a:bodyPr/>
          <a:lstStyle/>
          <a:p>
            <a:r>
              <a:rPr lang="ru-RU" dirty="0" smtClean="0"/>
              <a:t>Выполнила: Глебова Мария, группа М8О-307Б-23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1708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32115" y="940526"/>
            <a:ext cx="8011886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500" dirty="0" smtClean="0"/>
              <a:t>Цель: </a:t>
            </a:r>
            <a:r>
              <a:rPr lang="ru-RU" sz="2200" dirty="0" smtClean="0"/>
              <a:t>Исследовать </a:t>
            </a:r>
            <a:r>
              <a:rPr lang="ru-RU" sz="2200" dirty="0"/>
              <a:t>методы подбора </a:t>
            </a:r>
            <a:r>
              <a:rPr lang="ru-RU" sz="2200" dirty="0" err="1"/>
              <a:t>гиперпараметров</a:t>
            </a:r>
            <a:r>
              <a:rPr lang="ru-RU" sz="2200" dirty="0"/>
              <a:t> для модели </a:t>
            </a:r>
            <a:r>
              <a:rPr lang="ru-RU" sz="2200" dirty="0" err="1"/>
              <a:t>Random</a:t>
            </a:r>
            <a:r>
              <a:rPr lang="ru-RU" sz="2200" dirty="0"/>
              <a:t> </a:t>
            </a:r>
            <a:r>
              <a:rPr lang="ru-RU" sz="2200" dirty="0" err="1"/>
              <a:t>Forest</a:t>
            </a:r>
            <a:r>
              <a:rPr lang="ru-RU" sz="2200" dirty="0"/>
              <a:t> и сравнить их </a:t>
            </a:r>
            <a:r>
              <a:rPr lang="ru-RU" sz="2200" dirty="0" smtClean="0"/>
              <a:t>эффективность</a:t>
            </a:r>
          </a:p>
          <a:p>
            <a:endParaRPr lang="ru-RU" sz="2200" dirty="0"/>
          </a:p>
          <a:p>
            <a:r>
              <a:rPr lang="ru-RU" sz="3500" dirty="0" smtClean="0"/>
              <a:t>Задачи:</a:t>
            </a:r>
            <a:endParaRPr lang="ru-RU" sz="3500" dirty="0"/>
          </a:p>
          <a:p>
            <a:r>
              <a:rPr lang="ru-RU" sz="2200" dirty="0"/>
              <a:t>  1. Выбрать модель и изучить её </a:t>
            </a:r>
            <a:r>
              <a:rPr lang="ru-RU" sz="2200" dirty="0" err="1"/>
              <a:t>гиперпараметры</a:t>
            </a:r>
            <a:endParaRPr lang="ru-RU" sz="2200" dirty="0"/>
          </a:p>
          <a:p>
            <a:r>
              <a:rPr lang="ru-RU" sz="2200" dirty="0"/>
              <a:t>  2. Подготовить </a:t>
            </a:r>
            <a:r>
              <a:rPr lang="ru-RU" sz="2200" dirty="0" err="1"/>
              <a:t>датасет</a:t>
            </a:r>
            <a:r>
              <a:rPr lang="ru-RU" sz="2200" dirty="0"/>
              <a:t> для обучения</a:t>
            </a:r>
          </a:p>
          <a:p>
            <a:r>
              <a:rPr lang="ru-RU" sz="2200" dirty="0"/>
              <a:t>  3. Подобрать </a:t>
            </a:r>
            <a:r>
              <a:rPr lang="ru-RU" sz="2200" dirty="0" err="1"/>
              <a:t>гиперпараметры</a:t>
            </a:r>
            <a:r>
              <a:rPr lang="ru-RU" sz="2200" dirty="0"/>
              <a:t> тремя методами (</a:t>
            </a:r>
            <a:r>
              <a:rPr lang="ru-RU" sz="2200" dirty="0" err="1"/>
              <a:t>Grid</a:t>
            </a:r>
            <a:r>
              <a:rPr lang="ru-RU" sz="2200" dirty="0"/>
              <a:t> </a:t>
            </a:r>
            <a:r>
              <a:rPr lang="ru-RU" sz="2200" dirty="0" err="1"/>
              <a:t>Search</a:t>
            </a:r>
            <a:r>
              <a:rPr lang="ru-RU" sz="2200" dirty="0"/>
              <a:t>, </a:t>
            </a:r>
            <a:r>
              <a:rPr lang="ru-RU" sz="2200" dirty="0" err="1"/>
              <a:t>Random</a:t>
            </a:r>
            <a:r>
              <a:rPr lang="ru-RU" sz="2200" dirty="0"/>
              <a:t> </a:t>
            </a:r>
            <a:r>
              <a:rPr lang="ru-RU" sz="2200" dirty="0" err="1"/>
              <a:t>Search</a:t>
            </a:r>
            <a:r>
              <a:rPr lang="ru-RU" sz="2200" dirty="0"/>
              <a:t>, </a:t>
            </a:r>
            <a:r>
              <a:rPr lang="ru-RU" sz="2200" dirty="0" err="1"/>
              <a:t>Optuna</a:t>
            </a:r>
            <a:r>
              <a:rPr lang="ru-RU" sz="2200" dirty="0"/>
              <a:t>)</a:t>
            </a:r>
          </a:p>
          <a:p>
            <a:r>
              <a:rPr lang="ru-RU" sz="2200" dirty="0"/>
              <a:t>  4. Сравнить результаты методов</a:t>
            </a:r>
          </a:p>
          <a:p>
            <a:r>
              <a:rPr lang="ru-RU" sz="2200" dirty="0"/>
              <a:t>  5. Создать калькулятор с интерпретацией модели (LIME и SHAP)</a:t>
            </a:r>
          </a:p>
        </p:txBody>
      </p:sp>
    </p:spTree>
    <p:extLst>
      <p:ext uri="{BB962C8B-B14F-4D97-AF65-F5344CB8AC3E}">
        <p14:creationId xmlns:p14="http://schemas.microsoft.com/office/powerpoint/2010/main" val="1253697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6118" y="366607"/>
            <a:ext cx="3865134" cy="1253187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Выбор модели - </a:t>
            </a: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 smtClean="0"/>
              <a:t>Forest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320418" y="1619794"/>
            <a:ext cx="3859212" cy="4397829"/>
          </a:xfrm>
        </p:spPr>
        <p:txBody>
          <a:bodyPr>
            <a:noAutofit/>
          </a:bodyPr>
          <a:lstStyle/>
          <a:p>
            <a:pPr algn="ctr"/>
            <a:r>
              <a:rPr lang="ru-RU" sz="2400" u="sng" dirty="0" smtClean="0"/>
              <a:t>Причины </a:t>
            </a:r>
            <a:r>
              <a:rPr lang="ru-RU" sz="2400" u="sng" dirty="0"/>
              <a:t>выбора</a:t>
            </a:r>
            <a:r>
              <a:rPr lang="ru-RU" sz="2400" u="sng" dirty="0" smtClean="0"/>
              <a:t>:</a:t>
            </a:r>
            <a:endParaRPr lang="ru-RU" sz="2400" u="sng" dirty="0"/>
          </a:p>
          <a:p>
            <a:pPr algn="ctr"/>
            <a:r>
              <a:rPr lang="ru-RU" sz="2000" dirty="0"/>
              <a:t>  - Хорошо работает для классификации и регрессии</a:t>
            </a:r>
          </a:p>
          <a:p>
            <a:pPr algn="ctr"/>
            <a:r>
              <a:rPr lang="ru-RU" sz="2000" dirty="0"/>
              <a:t>  - Устойчив к переобучению</a:t>
            </a:r>
          </a:p>
          <a:p>
            <a:pPr algn="ctr"/>
            <a:r>
              <a:rPr lang="ru-RU" sz="2000" dirty="0"/>
              <a:t>  - Обрабатывает разные типы признаков</a:t>
            </a:r>
          </a:p>
          <a:p>
            <a:pPr algn="ctr"/>
            <a:r>
              <a:rPr lang="ru-RU" sz="2000" dirty="0"/>
              <a:t>  - Много </a:t>
            </a:r>
            <a:r>
              <a:rPr lang="ru-RU" sz="2000" dirty="0" err="1"/>
              <a:t>гиперпараметров</a:t>
            </a:r>
            <a:r>
              <a:rPr lang="ru-RU" sz="2000" dirty="0"/>
              <a:t> для настройки</a:t>
            </a:r>
          </a:p>
          <a:p>
            <a:pPr algn="ctr"/>
            <a:r>
              <a:rPr lang="ru-RU" sz="2000" dirty="0"/>
              <a:t>  - Позволяет оценивать важность признаков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13381" t="25099" r="28014" b="27156"/>
          <a:stretch/>
        </p:blipFill>
        <p:spPr>
          <a:xfrm>
            <a:off x="6000206" y="3831773"/>
            <a:ext cx="6057375" cy="277586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/>
          <a:srcRect l="15171" t="19710" r="36874" b="17092"/>
          <a:stretch/>
        </p:blipFill>
        <p:spPr>
          <a:xfrm>
            <a:off x="6156960" y="549487"/>
            <a:ext cx="4180115" cy="309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5915" y="1071155"/>
            <a:ext cx="3865134" cy="1584960"/>
          </a:xfrm>
        </p:spPr>
        <p:txBody>
          <a:bodyPr>
            <a:noAutofit/>
          </a:bodyPr>
          <a:lstStyle/>
          <a:p>
            <a:pPr algn="ctr"/>
            <a:r>
              <a:rPr lang="ru-RU" sz="3500" b="1" dirty="0" err="1"/>
              <a:t>Датасет</a:t>
            </a:r>
            <a:r>
              <a:rPr lang="ru-RU" sz="3500" b="1" dirty="0"/>
              <a:t> и подготовка данных</a:t>
            </a:r>
            <a:r>
              <a:rPr lang="ru-RU" sz="3500" dirty="0"/>
              <a:t/>
            </a:r>
            <a:br>
              <a:rPr lang="ru-RU" sz="3500" dirty="0"/>
            </a:br>
            <a:endParaRPr lang="ru-RU" sz="350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54954" y="2185851"/>
            <a:ext cx="3859212" cy="4214949"/>
          </a:xfrm>
        </p:spPr>
        <p:txBody>
          <a:bodyPr>
            <a:noAutofit/>
          </a:bodyPr>
          <a:lstStyle/>
          <a:p>
            <a:r>
              <a:rPr lang="ru-RU" sz="1600" dirty="0" smtClean="0"/>
              <a:t>-</a:t>
            </a:r>
            <a:r>
              <a:rPr lang="ru-RU" sz="1600" b="1" dirty="0" err="1" smtClean="0"/>
              <a:t>Датасет</a:t>
            </a:r>
            <a:r>
              <a:rPr lang="ru-RU" sz="1600" b="1" dirty="0" smtClean="0"/>
              <a:t>: </a:t>
            </a:r>
            <a:r>
              <a:rPr lang="ru-RU" sz="1600" dirty="0" smtClean="0"/>
              <a:t>Факторы </a:t>
            </a:r>
            <a:r>
              <a:rPr lang="ru-RU" sz="1600" dirty="0"/>
              <a:t>успеваемости </a:t>
            </a:r>
            <a:r>
              <a:rPr lang="ru-RU" sz="1600" dirty="0" smtClean="0"/>
              <a:t>студентов</a:t>
            </a:r>
          </a:p>
          <a:p>
            <a:r>
              <a:rPr lang="ru-RU" sz="1600" b="1" dirty="0"/>
              <a:t>-</a:t>
            </a:r>
            <a:r>
              <a:rPr lang="ru-RU" sz="1600" b="1" dirty="0" smtClean="0"/>
              <a:t>Размер:</a:t>
            </a:r>
            <a:r>
              <a:rPr lang="ru-RU" sz="1600" dirty="0" smtClean="0"/>
              <a:t> </a:t>
            </a:r>
            <a:r>
              <a:rPr lang="ru-RU" sz="1600" dirty="0"/>
              <a:t>6607 записей, 20 признаков</a:t>
            </a:r>
          </a:p>
          <a:p>
            <a:r>
              <a:rPr lang="ru-RU" sz="1600" dirty="0"/>
              <a:t>- </a:t>
            </a:r>
            <a:r>
              <a:rPr lang="ru-RU" sz="1600" b="1" dirty="0" smtClean="0"/>
              <a:t>Целевая </a:t>
            </a:r>
            <a:r>
              <a:rPr lang="ru-RU" sz="1600" b="1" dirty="0"/>
              <a:t>переменная</a:t>
            </a:r>
            <a:r>
              <a:rPr lang="ru-RU" sz="1600" b="1" dirty="0" smtClean="0"/>
              <a:t>:</a:t>
            </a:r>
            <a:r>
              <a:rPr lang="ru-RU" sz="1600" dirty="0" smtClean="0"/>
              <a:t> </a:t>
            </a:r>
            <a:r>
              <a:rPr lang="ru-RU" sz="1600" dirty="0" err="1"/>
              <a:t>Exam_Score</a:t>
            </a:r>
            <a:r>
              <a:rPr lang="ru-RU" sz="1600" dirty="0"/>
              <a:t> (балл на экзамене)</a:t>
            </a:r>
          </a:p>
          <a:p>
            <a:r>
              <a:rPr lang="ru-RU" sz="1600" dirty="0"/>
              <a:t>- </a:t>
            </a:r>
            <a:r>
              <a:rPr lang="ru-RU" sz="1600" b="1" dirty="0" smtClean="0"/>
              <a:t>Классы:</a:t>
            </a:r>
            <a:r>
              <a:rPr lang="ru-RU" sz="1600" dirty="0" smtClean="0"/>
              <a:t> </a:t>
            </a:r>
            <a:r>
              <a:rPr lang="ru-RU" sz="1600" dirty="0"/>
              <a:t>3 категории (Низкая, Средняя, Высокая успеваемость)</a:t>
            </a:r>
          </a:p>
          <a:p>
            <a:r>
              <a:rPr lang="ru-RU" sz="1600" dirty="0"/>
              <a:t>- </a:t>
            </a:r>
            <a:r>
              <a:rPr lang="ru-RU" sz="1600" b="1" dirty="0" smtClean="0"/>
              <a:t>Предобработка:</a:t>
            </a:r>
            <a:endParaRPr lang="ru-RU" sz="1600" dirty="0"/>
          </a:p>
          <a:p>
            <a:r>
              <a:rPr lang="ru-RU" sz="1600" dirty="0"/>
              <a:t>  - Заполнение пропусков</a:t>
            </a:r>
          </a:p>
          <a:p>
            <a:r>
              <a:rPr lang="ru-RU" sz="1600" dirty="0"/>
              <a:t>  - Кодирование категориальных признаков</a:t>
            </a:r>
          </a:p>
          <a:p>
            <a:r>
              <a:rPr lang="ru-RU" sz="1600" dirty="0"/>
              <a:t>  - Разделение на </a:t>
            </a:r>
            <a:r>
              <a:rPr lang="ru-RU" sz="1600" dirty="0" err="1"/>
              <a:t>train</a:t>
            </a:r>
            <a:r>
              <a:rPr lang="ru-RU" sz="1600" dirty="0"/>
              <a:t>/</a:t>
            </a:r>
            <a:r>
              <a:rPr lang="ru-RU" sz="1600" dirty="0" err="1"/>
              <a:t>test</a:t>
            </a:r>
            <a:r>
              <a:rPr lang="ru-RU" sz="1600" dirty="0"/>
              <a:t> (80/20)</a:t>
            </a:r>
          </a:p>
          <a:p>
            <a:endParaRPr lang="ru-RU" sz="16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13535" t="28237" r="19246" b="18721"/>
          <a:stretch/>
        </p:blipFill>
        <p:spPr>
          <a:xfrm>
            <a:off x="6073827" y="3797260"/>
            <a:ext cx="5865625" cy="260354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13199" t="30827" r="56700" b="7649"/>
          <a:stretch/>
        </p:blipFill>
        <p:spPr>
          <a:xfrm>
            <a:off x="6785954" y="252548"/>
            <a:ext cx="2931305" cy="337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1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90383" y="860457"/>
            <a:ext cx="8761413" cy="706964"/>
          </a:xfrm>
        </p:spPr>
        <p:txBody>
          <a:bodyPr/>
          <a:lstStyle/>
          <a:p>
            <a:pPr algn="ctr"/>
            <a:r>
              <a:rPr lang="ru-RU" b="1" dirty="0">
                <a:latin typeface="Consolas" panose="020B0609020204030204" pitchFamily="49" charset="0"/>
              </a:rPr>
              <a:t>Методы подбора </a:t>
            </a:r>
            <a:r>
              <a:rPr lang="ru-RU" b="1" dirty="0" err="1" smtClean="0">
                <a:latin typeface="Consolas" panose="020B0609020204030204" pitchFamily="49" charset="0"/>
              </a:rPr>
              <a:t>гиперпараметров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74468" y="2648139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1" dirty="0" smtClean="0">
                <a:latin typeface="Consolas" panose="020B0609020204030204" pitchFamily="49" charset="0"/>
              </a:rPr>
              <a:t>**</a:t>
            </a:r>
            <a:r>
              <a:rPr lang="ru-RU" b="1" dirty="0" err="1">
                <a:latin typeface="Consolas" panose="020B0609020204030204" pitchFamily="49" charset="0"/>
              </a:rPr>
              <a:t>Grid</a:t>
            </a:r>
            <a:r>
              <a:rPr lang="ru-RU" b="1" dirty="0">
                <a:latin typeface="Consolas" panose="020B0609020204030204" pitchFamily="49" charset="0"/>
              </a:rPr>
              <a:t> </a:t>
            </a:r>
            <a:r>
              <a:rPr lang="ru-RU" b="1" dirty="0" err="1">
                <a:latin typeface="Consolas" panose="020B0609020204030204" pitchFamily="49" charset="0"/>
              </a:rPr>
              <a:t>Search</a:t>
            </a:r>
            <a:r>
              <a:rPr lang="ru-RU" b="1" dirty="0">
                <a:latin typeface="Consolas" panose="020B0609020204030204" pitchFamily="49" charset="0"/>
              </a:rPr>
              <a:t>:**</a:t>
            </a:r>
            <a:r>
              <a:rPr lang="ru-RU" dirty="0">
                <a:latin typeface="Consolas" panose="020B0609020204030204" pitchFamily="49" charset="0"/>
              </a:rPr>
              <a:t> Полный перебор всех комбинаций</a:t>
            </a:r>
          </a:p>
          <a:p>
            <a:r>
              <a:rPr lang="ru-RU" dirty="0">
                <a:latin typeface="Consolas" panose="020B0609020204030204" pitchFamily="49" charset="0"/>
              </a:rPr>
              <a:t>  - Плюсы: гарантированно находит лучшую комбинацию</a:t>
            </a:r>
          </a:p>
          <a:p>
            <a:r>
              <a:rPr lang="ru-RU" dirty="0">
                <a:latin typeface="Consolas" panose="020B0609020204030204" pitchFamily="49" charset="0"/>
              </a:rPr>
              <a:t>  - Минусы: очень медленный</a:t>
            </a:r>
          </a:p>
          <a:p>
            <a:r>
              <a:rPr lang="ru-RU" dirty="0">
                <a:latin typeface="Consolas" panose="020B0609020204030204" pitchFamily="49" charset="0"/>
              </a:rPr>
              <a:t>  </a:t>
            </a:r>
          </a:p>
          <a:p>
            <a:endParaRPr lang="ru-RU" dirty="0" smtClean="0">
              <a:latin typeface="Consolas" panose="020B0609020204030204" pitchFamily="49" charset="0"/>
            </a:endParaRPr>
          </a:p>
          <a:p>
            <a:endParaRPr lang="ru-RU" dirty="0">
              <a:latin typeface="Consolas" panose="020B0609020204030204" pitchFamily="49" charset="0"/>
            </a:endParaRPr>
          </a:p>
          <a:p>
            <a:endParaRPr lang="ru-RU" dirty="0" smtClean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  </a:t>
            </a:r>
          </a:p>
          <a:p>
            <a:pPr algn="ctr"/>
            <a:r>
              <a:rPr lang="ru-RU" b="1" dirty="0" smtClean="0">
                <a:latin typeface="Consolas" panose="020B0609020204030204" pitchFamily="49" charset="0"/>
              </a:rPr>
              <a:t>**</a:t>
            </a:r>
            <a:r>
              <a:rPr lang="ru-RU" b="1" dirty="0" err="1">
                <a:latin typeface="Consolas" panose="020B0609020204030204" pitchFamily="49" charset="0"/>
              </a:rPr>
              <a:t>Optuna</a:t>
            </a:r>
            <a:r>
              <a:rPr lang="ru-RU" b="1" dirty="0">
                <a:latin typeface="Consolas" panose="020B0609020204030204" pitchFamily="49" charset="0"/>
              </a:rPr>
              <a:t>:**</a:t>
            </a:r>
            <a:r>
              <a:rPr lang="ru-RU" dirty="0">
                <a:latin typeface="Consolas" panose="020B0609020204030204" pitchFamily="49" charset="0"/>
              </a:rPr>
              <a:t> Байесовская оптимизация</a:t>
            </a:r>
          </a:p>
          <a:p>
            <a:r>
              <a:rPr lang="ru-RU" dirty="0">
                <a:latin typeface="Consolas" panose="020B0609020204030204" pitchFamily="49" charset="0"/>
              </a:rPr>
              <a:t>  - Плюсы: умный поиск, учится на результатах</a:t>
            </a:r>
          </a:p>
          <a:p>
            <a:r>
              <a:rPr lang="ru-RU" dirty="0">
                <a:latin typeface="Consolas" panose="020B0609020204030204" pitchFamily="49" charset="0"/>
              </a:rPr>
              <a:t>  - Минусы: сложнее в понимании</a:t>
            </a:r>
            <a:endParaRPr lang="ru-RU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96000" y="3547966"/>
            <a:ext cx="519901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Consolas" panose="020B0609020204030204" pitchFamily="49" charset="0"/>
              </a:rPr>
              <a:t>**</a:t>
            </a:r>
            <a:r>
              <a:rPr lang="ru-RU" b="1" dirty="0" err="1">
                <a:latin typeface="Consolas" panose="020B0609020204030204" pitchFamily="49" charset="0"/>
              </a:rPr>
              <a:t>Random</a:t>
            </a:r>
            <a:r>
              <a:rPr lang="ru-RU" b="1" dirty="0">
                <a:latin typeface="Consolas" panose="020B0609020204030204" pitchFamily="49" charset="0"/>
              </a:rPr>
              <a:t> </a:t>
            </a:r>
            <a:r>
              <a:rPr lang="ru-RU" b="1" dirty="0" err="1">
                <a:latin typeface="Consolas" panose="020B0609020204030204" pitchFamily="49" charset="0"/>
              </a:rPr>
              <a:t>Search</a:t>
            </a:r>
            <a:r>
              <a:rPr lang="ru-RU" b="1" dirty="0">
                <a:latin typeface="Consolas" panose="020B0609020204030204" pitchFamily="49" charset="0"/>
              </a:rPr>
              <a:t>:** </a:t>
            </a:r>
            <a:r>
              <a:rPr lang="ru-RU" dirty="0">
                <a:latin typeface="Consolas" panose="020B0609020204030204" pitchFamily="49" charset="0"/>
              </a:rPr>
              <a:t>Случайный поиск из заданных диапазонов</a:t>
            </a:r>
          </a:p>
          <a:p>
            <a:r>
              <a:rPr lang="ru-RU" dirty="0">
                <a:latin typeface="Consolas" panose="020B0609020204030204" pitchFamily="49" charset="0"/>
              </a:rPr>
              <a:t>  - Плюсы: быстрее </a:t>
            </a:r>
            <a:r>
              <a:rPr lang="ru-RU" dirty="0" err="1">
                <a:latin typeface="Consolas" panose="020B0609020204030204" pitchFamily="49" charset="0"/>
              </a:rPr>
              <a:t>Grid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Search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  - Минусы: не гарантирует оптимальность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4213537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4588" y="930125"/>
            <a:ext cx="8761413" cy="706964"/>
          </a:xfrm>
        </p:spPr>
        <p:txBody>
          <a:bodyPr/>
          <a:lstStyle/>
          <a:p>
            <a:pPr algn="ctr"/>
            <a:r>
              <a:rPr lang="ru-RU" b="1" dirty="0"/>
              <a:t>Сравнение результатов </a:t>
            </a:r>
            <a:r>
              <a:rPr lang="ru-RU" b="1" dirty="0" smtClean="0"/>
              <a:t>методов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93" y="2895601"/>
            <a:ext cx="11580387" cy="317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164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17104" y="1069462"/>
            <a:ext cx="8050006" cy="706964"/>
          </a:xfrm>
        </p:spPr>
        <p:txBody>
          <a:bodyPr/>
          <a:lstStyle/>
          <a:p>
            <a:r>
              <a:rPr lang="ru-RU" b="1" dirty="0"/>
              <a:t>Локальная интерпретация (</a:t>
            </a:r>
            <a:r>
              <a:rPr lang="en-US" b="1" dirty="0"/>
              <a:t>LIME)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335533"/>
            <a:ext cx="5563551" cy="444409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13329" t="15975" r="57680" b="16094"/>
          <a:stretch/>
        </p:blipFill>
        <p:spPr>
          <a:xfrm>
            <a:off x="7518395" y="2516776"/>
            <a:ext cx="3062519" cy="403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671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1011" y="1156548"/>
            <a:ext cx="8761413" cy="706964"/>
          </a:xfrm>
        </p:spPr>
        <p:txBody>
          <a:bodyPr/>
          <a:lstStyle/>
          <a:p>
            <a:r>
              <a:rPr lang="ru-RU" b="1" dirty="0"/>
              <a:t>Глобальная интерпретация (</a:t>
            </a:r>
            <a:r>
              <a:rPr lang="en-US" b="1" dirty="0"/>
              <a:t>SHAP)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" y="2400502"/>
            <a:ext cx="4190048" cy="445749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240" y="2532166"/>
            <a:ext cx="5415506" cy="432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61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61850" y="1322759"/>
            <a:ext cx="1037190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500" b="1" dirty="0" smtClean="0"/>
              <a:t>Основные </a:t>
            </a:r>
            <a:r>
              <a:rPr lang="ru-RU" sz="2500" b="1" dirty="0"/>
              <a:t>выводы</a:t>
            </a:r>
            <a:r>
              <a:rPr lang="ru-RU" sz="2500" b="1" dirty="0" smtClean="0"/>
              <a:t>:</a:t>
            </a:r>
            <a:endParaRPr lang="ru-RU" sz="2500" b="1" dirty="0"/>
          </a:p>
          <a:p>
            <a:r>
              <a:rPr lang="ru-RU" sz="2000" dirty="0"/>
              <a:t>  1. </a:t>
            </a:r>
            <a:r>
              <a:rPr lang="ru-RU" sz="2000" dirty="0" err="1"/>
              <a:t>Random</a:t>
            </a:r>
            <a:r>
              <a:rPr lang="ru-RU" sz="2000" dirty="0"/>
              <a:t> </a:t>
            </a:r>
            <a:r>
              <a:rPr lang="ru-RU" sz="2000" dirty="0" err="1"/>
              <a:t>Forest</a:t>
            </a:r>
            <a:r>
              <a:rPr lang="ru-RU" sz="2000" dirty="0"/>
              <a:t> показал хорошие результаты для задачи классификации успеваемости</a:t>
            </a:r>
          </a:p>
          <a:p>
            <a:r>
              <a:rPr lang="ru-RU" sz="2000" dirty="0"/>
              <a:t>  2. </a:t>
            </a:r>
            <a:r>
              <a:rPr lang="ru-RU" sz="2000" dirty="0" err="1"/>
              <a:t>Optuna</a:t>
            </a:r>
            <a:r>
              <a:rPr lang="ru-RU" sz="2000" dirty="0"/>
              <a:t> оказался наиболее эффективным методом подбора </a:t>
            </a:r>
            <a:r>
              <a:rPr lang="ru-RU" sz="2000" dirty="0" err="1"/>
              <a:t>гиперпараметров</a:t>
            </a:r>
            <a:endParaRPr lang="ru-RU" sz="2000" dirty="0"/>
          </a:p>
          <a:p>
            <a:r>
              <a:rPr lang="ru-RU" sz="2000" dirty="0"/>
              <a:t>  3. LIME и SHAP дополняют друг друга в интерпретации модели</a:t>
            </a:r>
          </a:p>
          <a:p>
            <a:r>
              <a:rPr lang="ru-RU" sz="2000" dirty="0"/>
              <a:t>  4. Наиболее важные признаки: </a:t>
            </a:r>
            <a:r>
              <a:rPr lang="ru-RU" sz="2000" dirty="0" err="1"/>
              <a:t>Previous_Scores</a:t>
            </a:r>
            <a:r>
              <a:rPr lang="ru-RU" sz="2000" dirty="0"/>
              <a:t>, </a:t>
            </a:r>
            <a:r>
              <a:rPr lang="ru-RU" sz="2000" dirty="0" err="1"/>
              <a:t>Attendance</a:t>
            </a:r>
            <a:r>
              <a:rPr lang="ru-RU" sz="2000" dirty="0"/>
              <a:t>, </a:t>
            </a:r>
            <a:r>
              <a:rPr lang="ru-RU" sz="2000" dirty="0" err="1"/>
              <a:t>Hours_Studied</a:t>
            </a:r>
            <a:endParaRPr lang="ru-RU" sz="2000" dirty="0"/>
          </a:p>
          <a:p>
            <a:endParaRPr lang="ru-RU" sz="2000" dirty="0" smtClean="0"/>
          </a:p>
          <a:p>
            <a:endParaRPr lang="ru-RU" sz="2000" dirty="0"/>
          </a:p>
          <a:p>
            <a:r>
              <a:rPr lang="ru-RU" sz="2500" b="1" dirty="0" smtClean="0"/>
              <a:t>Практическая </a:t>
            </a:r>
            <a:r>
              <a:rPr lang="ru-RU" sz="2500" b="1" dirty="0"/>
              <a:t>значимость</a:t>
            </a:r>
            <a:r>
              <a:rPr lang="ru-RU" sz="2500" b="1" dirty="0" smtClean="0"/>
              <a:t>:</a:t>
            </a:r>
            <a:endParaRPr lang="ru-RU" sz="2500" b="1" dirty="0"/>
          </a:p>
          <a:p>
            <a:r>
              <a:rPr lang="ru-RU" sz="2000" dirty="0"/>
              <a:t>  - Создан калькулятор для предсказания и интерпретации результатов</a:t>
            </a:r>
          </a:p>
          <a:p>
            <a:r>
              <a:rPr lang="ru-RU" sz="2000" dirty="0"/>
              <a:t>  - Модель может использоваться для анализа факторов успеваемости студентов</a:t>
            </a:r>
          </a:p>
        </p:txBody>
      </p:sp>
    </p:spTree>
    <p:extLst>
      <p:ext uri="{BB962C8B-B14F-4D97-AF65-F5344CB8AC3E}">
        <p14:creationId xmlns:p14="http://schemas.microsoft.com/office/powerpoint/2010/main" val="3790504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16806" y="2690949"/>
            <a:ext cx="8825658" cy="1137198"/>
          </a:xfrm>
        </p:spPr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03564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Ион (конференц-зал)</Template>
  <TotalTime>28</TotalTime>
  <Words>353</Words>
  <Application>Microsoft Office PowerPoint</Application>
  <PresentationFormat>Широкоэкранный</PresentationFormat>
  <Paragraphs>55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Consolas</vt:lpstr>
      <vt:lpstr>Wingdings 3</vt:lpstr>
      <vt:lpstr>Совет директоров</vt:lpstr>
      <vt:lpstr>Датасет: Факторы успеваемости студентов</vt:lpstr>
      <vt:lpstr>Презентация PowerPoint</vt:lpstr>
      <vt:lpstr>Выбор модели - Random Forest</vt:lpstr>
      <vt:lpstr>Датасет и подготовка данных </vt:lpstr>
      <vt:lpstr>Методы подбора гиперпараметров</vt:lpstr>
      <vt:lpstr>Сравнение результатов методов</vt:lpstr>
      <vt:lpstr>Локальная интерпретация (LIME) </vt:lpstr>
      <vt:lpstr>Глобальная интерпретация (SHAP) 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Датасет: Факторы успеваемости студентов</dc:title>
  <dc:creator>user</dc:creator>
  <cp:lastModifiedBy>user</cp:lastModifiedBy>
  <cp:revision>4</cp:revision>
  <dcterms:created xsi:type="dcterms:W3CDTF">2025-11-14T15:43:09Z</dcterms:created>
  <dcterms:modified xsi:type="dcterms:W3CDTF">2025-11-14T16:11:10Z</dcterms:modified>
</cp:coreProperties>
</file>