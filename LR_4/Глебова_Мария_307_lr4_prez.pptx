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" y="2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94885b5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94885b5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b94885b5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b94885b5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b94885b5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b94885b5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b94885b5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b94885b5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b94885b5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b94885b5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94885b51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b94885b51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94885b51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94885b51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b94885b5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b94885b51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b94885b51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b94885b51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b94885b51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b94885b51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28048"/>
            <a:ext cx="8520600" cy="2052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933" b="1" dirty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Лабораторная </a:t>
            </a:r>
            <a:r>
              <a:rPr lang="ru" sz="3933" b="1" dirty="0" smtClean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работа №4:</a:t>
            </a:r>
            <a:br>
              <a:rPr lang="ru" sz="3933" b="1" dirty="0" smtClean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3933" b="1" dirty="0" smtClean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Bayesian Networks</a:t>
            </a:r>
            <a:br>
              <a:rPr lang="ru" sz="3933" b="1" dirty="0" smtClean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3933" b="1" dirty="0" smtClean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датасет: </a:t>
            </a:r>
            <a:r>
              <a:rPr lang="ru" sz="3933" b="1" dirty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Mushroom Classification</a:t>
            </a:r>
            <a:endParaRPr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24663" y="4284091"/>
            <a:ext cx="8520600" cy="792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ru" sz="2095" b="1" dirty="0" smtClean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Выполнила: Глебова Мария Алексеевна</a:t>
            </a:r>
            <a:endParaRPr sz="2095" b="1" dirty="0">
              <a:solidFill>
                <a:schemeClr val="accent4">
                  <a:lumMod val="5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ru" sz="2095" b="1" dirty="0" smtClean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Группа: </a:t>
            </a:r>
            <a:r>
              <a:rPr lang="ru" sz="2095" b="1" dirty="0">
                <a:solidFill>
                  <a:schemeClr val="accent4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М8О-307Б-23</a:t>
            </a:r>
            <a:endParaRPr sz="2870" b="1" dirty="0">
              <a:solidFill>
                <a:schemeClr val="accent4">
                  <a:lumMod val="5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endParaRPr sz="2870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lang="ru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Bayesian Networks</a:t>
            </a:r>
            <a:endParaRPr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299750"/>
            <a:ext cx="3550500" cy="3437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Байесовские сети — это графовые модели, которые показывают, как переменные связаны между собой через вероятности. Они помогают моделировать зависимости и делать выводы на основе данных. Пример: предсказать, съедобен ли гриб, зная его запах и цвет жабр. Формула: P(A∣B)=P(B∣A)⋅P(A)/P(B) — закон Байеса для расчёта вероятностей.</a:t>
            </a:r>
            <a:endParaRPr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100" y="1780200"/>
            <a:ext cx="4977000" cy="2784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Датасет Mushroom Classification</a:t>
            </a:r>
            <a:endParaRPr sz="30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86250" y="3484150"/>
            <a:ext cx="8972100" cy="15372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Char char="●"/>
            </a:pPr>
            <a:r>
              <a:rPr lang="ru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Источник: Kaggle</a:t>
            </a:r>
            <a:endParaRPr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Char char="●"/>
            </a:pPr>
            <a:r>
              <a:rPr lang="ru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Размер: 8124 гриба</a:t>
            </a:r>
            <a:endParaRPr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Char char="●"/>
            </a:pPr>
            <a:r>
              <a:rPr lang="ru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Признаки: форма шляпки, запах, цвет жабр, место роста и др. (всего 22)</a:t>
            </a:r>
            <a:endParaRPr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Char char="●"/>
            </a:pPr>
            <a:r>
              <a:rPr lang="ru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 классификация на съедобные (52%) и ядовитые (48%)</a:t>
            </a:r>
            <a:endParaRPr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Char char="●"/>
            </a:pPr>
            <a:r>
              <a:rPr lang="ru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Пример: запах "odor" часто указывает на яд.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50" y="807400"/>
            <a:ext cx="5724100" cy="15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5625" y="2439275"/>
            <a:ext cx="6482724" cy="14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269625" y="-1166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Times New Roman"/>
                <a:ea typeface="Times New Roman"/>
                <a:cs typeface="Times New Roman"/>
                <a:sym typeface="Times New Roman"/>
              </a:rPr>
              <a:t>Загрузка датасета и основная статистика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748800" y="572697"/>
            <a:ext cx="61596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8124 записей, 23 столбца (размер датасета)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 признаки — строки (object)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Целевой столбец: class → e (съедобный), p (ядовитый)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50" y="2275825"/>
            <a:ext cx="5301575" cy="14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50" y="3785625"/>
            <a:ext cx="5680251" cy="12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0725" y="1235550"/>
            <a:ext cx="1081875" cy="426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0675" y="1971150"/>
            <a:ext cx="2579550" cy="309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950" y="683650"/>
            <a:ext cx="2167100" cy="9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14525" y="683650"/>
            <a:ext cx="1234275" cy="363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950" y="1807050"/>
            <a:ext cx="1081875" cy="40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20225" y="2118272"/>
            <a:ext cx="21126" cy="5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86100" y="1508225"/>
            <a:ext cx="1489100" cy="36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Times New Roman"/>
                <a:ea typeface="Times New Roman"/>
                <a:cs typeface="Times New Roman"/>
                <a:sym typeface="Times New Roman"/>
              </a:rPr>
              <a:t>Обработка датасета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85625" y="1044742"/>
            <a:ext cx="57069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stalk-root — 2480 пропусков в виде знака «?», слишком много</a:t>
            </a:r>
            <a:endParaRPr sz="1600"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5524" y="572700"/>
            <a:ext cx="2840501" cy="12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38225" y="544475"/>
            <a:ext cx="5801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Сначала удалили два «плохих» столбца: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veil-type — везде одинаковое значение 'p', ничего не даёт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3200" y="1963624"/>
            <a:ext cx="31051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3200" y="2186625"/>
            <a:ext cx="3105150" cy="217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869" y="1667938"/>
            <a:ext cx="4776982" cy="2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38225" y="2542925"/>
            <a:ext cx="5896200" cy="11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 Потом закодировали все буквы в цифры: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Применён LabelEncoder ко всем столбцам — теперь вместо 'x', 'f', 'k' и т.д. у нас числа 0, 1, 2…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5525" y="2596825"/>
            <a:ext cx="3116350" cy="587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2875" y="2078688"/>
            <a:ext cx="1101157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43150" y="2078677"/>
            <a:ext cx="10382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34838" y="3306438"/>
            <a:ext cx="1081875" cy="405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9081" y="3834725"/>
            <a:ext cx="8827195" cy="12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311700" y="4532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ru" sz="33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Построение Bayesian Network</a:t>
            </a:r>
            <a:endParaRPr sz="33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550" y="1926231"/>
            <a:ext cx="16764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114725" y="677375"/>
            <a:ext cx="483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Автоматическое построение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6358" y="677375"/>
            <a:ext cx="5617318" cy="446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550" y="1139075"/>
            <a:ext cx="3130257" cy="6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77463" y="2443293"/>
            <a:ext cx="340043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" sz="1500" i="1" u="sng" dirty="0">
                <a:latin typeface="Times New Roman"/>
                <a:ea typeface="Times New Roman"/>
                <a:cs typeface="Times New Roman"/>
                <a:sym typeface="Times New Roman"/>
              </a:rPr>
              <a:t>Красный узел </a:t>
            </a:r>
            <a:r>
              <a:rPr lang="ru" sz="1500" dirty="0">
                <a:latin typeface="Times New Roman"/>
                <a:ea typeface="Times New Roman"/>
                <a:cs typeface="Times New Roman"/>
                <a:sym typeface="Times New Roman"/>
              </a:rPr>
              <a:t>— class (съедобный/ядовитый</a:t>
            </a:r>
            <a:r>
              <a:rPr lang="ru" sz="1500" dirty="0" smtClean="0"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ru" sz="1500" i="1" u="sng" dirty="0">
                <a:latin typeface="Times New Roman"/>
                <a:ea typeface="Times New Roman"/>
                <a:cs typeface="Times New Roman"/>
                <a:sym typeface="Times New Roman"/>
              </a:rPr>
              <a:t>Жёлтый узел </a:t>
            </a:r>
            <a:r>
              <a:rPr lang="ru" sz="1500" dirty="0">
                <a:latin typeface="Times New Roman"/>
                <a:ea typeface="Times New Roman"/>
                <a:cs typeface="Times New Roman"/>
                <a:sym typeface="Times New Roman"/>
              </a:rPr>
              <a:t>— odor (запах) — главный </a:t>
            </a:r>
            <a:r>
              <a:rPr lang="ru" sz="1500" dirty="0" smtClean="0">
                <a:latin typeface="Times New Roman"/>
                <a:ea typeface="Times New Roman"/>
                <a:cs typeface="Times New Roman"/>
                <a:sym typeface="Times New Roman"/>
              </a:rPr>
              <a:t>предсказатель.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" sz="1800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 dirty="0" smtClean="0">
                <a:latin typeface="Times New Roman"/>
                <a:ea typeface="Times New Roman"/>
                <a:cs typeface="Times New Roman"/>
                <a:sym typeface="Times New Roman"/>
              </a:rPr>
              <a:t>Стрелки </a:t>
            </a:r>
            <a:r>
              <a:rPr lang="ru" sz="1800" dirty="0">
                <a:latin typeface="Times New Roman"/>
                <a:ea typeface="Times New Roman"/>
                <a:cs typeface="Times New Roman"/>
                <a:sym typeface="Times New Roman"/>
              </a:rPr>
              <a:t>показывают прямые </a:t>
            </a:r>
            <a:r>
              <a:rPr lang="ru" sz="1800" dirty="0" smtClean="0">
                <a:latin typeface="Times New Roman"/>
                <a:ea typeface="Times New Roman"/>
                <a:cs typeface="Times New Roman"/>
                <a:sym typeface="Times New Roman"/>
              </a:rPr>
              <a:t>зависимости.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latin typeface="Times New Roman"/>
                <a:ea typeface="Times New Roman"/>
                <a:cs typeface="Times New Roman"/>
                <a:sym typeface="Times New Roman"/>
              </a:rPr>
              <a:t>Видно, что почти все важные признаки так или иначе связаны с </a:t>
            </a:r>
            <a:r>
              <a:rPr lang="ru" sz="1800" dirty="0" smtClean="0">
                <a:latin typeface="Times New Roman"/>
                <a:ea typeface="Times New Roman"/>
                <a:cs typeface="Times New Roman"/>
                <a:sym typeface="Times New Roman"/>
              </a:rPr>
              <a:t>запахом.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311700" y="284000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20">
                <a:latin typeface="Times New Roman"/>
                <a:ea typeface="Times New Roman"/>
                <a:cs typeface="Times New Roman"/>
                <a:sym typeface="Times New Roman"/>
              </a:rPr>
              <a:t>Оценка параметров сети</a:t>
            </a:r>
            <a:endParaRPr sz="3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1"/>
          </p:nvPr>
        </p:nvSpPr>
        <p:spPr>
          <a:xfrm>
            <a:off x="115014" y="1088453"/>
            <a:ext cx="4076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342900">
              <a:lnSpc>
                <a:spcPct val="150000"/>
              </a:lnSpc>
              <a:spcBef>
                <a:spcPts val="1200"/>
              </a:spcBef>
            </a:pPr>
            <a:r>
              <a:rPr lang="ru" sz="1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оценки параметров использовался BayesianEstimator с BDeu-приором</a:t>
            </a:r>
            <a:endParaRPr sz="19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>
              <a:lnSpc>
                <a:spcPct val="150000"/>
              </a:lnSpc>
              <a:spcBef>
                <a:spcPts val="1200"/>
              </a:spcBef>
            </a:pPr>
            <a:r>
              <a:rPr lang="ru" sz="1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Сеть построила 21 таблицу условных вероятностей (CPT)</a:t>
            </a:r>
            <a:endParaRPr sz="19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" sz="1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Одна для каждого узла, учитывая его родителей.</a:t>
            </a:r>
            <a:endParaRPr dirty="0"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1675" y="2241012"/>
            <a:ext cx="4824175" cy="157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623400" y="-19601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781"/>
              <a:buFont typeface="Arial"/>
              <a:buNone/>
            </a:pPr>
            <a:r>
              <a:rPr lang="ru" sz="3355" dirty="0">
                <a:latin typeface="Times New Roman"/>
                <a:ea typeface="Times New Roman"/>
                <a:cs typeface="Times New Roman"/>
                <a:sym typeface="Times New Roman"/>
              </a:rPr>
              <a:t>Примеры таблиц условных вероятностей (CPT)</a:t>
            </a:r>
            <a:endParaRPr sz="3355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738" y="700905"/>
            <a:ext cx="7117924" cy="195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472" y="2802124"/>
            <a:ext cx="3352105" cy="21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7739" y="2802124"/>
            <a:ext cx="4821793" cy="21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311700" y="-63100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latin typeface="Times New Roman"/>
                <a:ea typeface="Times New Roman"/>
                <a:cs typeface="Times New Roman"/>
                <a:sym typeface="Times New Roman"/>
              </a:rPr>
              <a:t>Визуализаци сети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8375"/>
            <a:ext cx="4123850" cy="410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9850" y="509600"/>
            <a:ext cx="4814150" cy="38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4466000" y="4201075"/>
            <a:ext cx="4794300" cy="11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Граф идеально отражает реальность грибов: понюхал → понял, ядовитый или нет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394146" y="-134912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 и результаты</a:t>
            </a:r>
            <a:endParaRPr sz="3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5485" y="847651"/>
            <a:ext cx="3110826" cy="415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41359"/>
            <a:ext cx="3110824" cy="2726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0973" y="725100"/>
            <a:ext cx="2733027" cy="2666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311700" y="-149175"/>
            <a:ext cx="85206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lang="ru" sz="33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с Baseline</a:t>
            </a:r>
            <a:endParaRPr sz="33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50" y="721875"/>
            <a:ext cx="5287125" cy="208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>
            <a:off x="5403953" y="568620"/>
            <a:ext cx="3652421" cy="223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 сравнении построенной байесовской сети с наивным байесовским классификатором из </a:t>
            </a:r>
            <a:r>
              <a:rPr lang="ru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 </a:t>
            </a:r>
            <a:r>
              <a:rPr lang="ru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получены следующие результаты:</a:t>
            </a:r>
            <a:endParaRPr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ru" sz="1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Наивный </a:t>
            </a:r>
            <a:r>
              <a:rPr lang="ru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байесовский классификатор показал accuracy = 95.98% и log-loss = </a:t>
            </a:r>
            <a:r>
              <a:rPr lang="ru" sz="1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0.113.</a:t>
            </a:r>
            <a:endParaRPr lang="ru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ru" sz="1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Байесовская </a:t>
            </a:r>
            <a:r>
              <a:rPr lang="ru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сеть, построенная с помощью pgmpy, достигла accuracy = 100.0% и log-loss = 0.00147.</a:t>
            </a:r>
            <a:endParaRPr sz="1200" dirty="0">
              <a:solidFill>
                <a:schemeClr val="dk2"/>
              </a:solidFill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171600" y="3014534"/>
            <a:ext cx="88008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Полученное преимущество объясняется тем, что автоматически обученная структура сети (HillClimbSearch + BIC) выявила и учла реальные зависимости между признаками (в частности, сильные связи между odor, spore-print-color, gill-color и class), тогда как наивный байесовский классификатор по определению предполагает условную независимость всех признаков при фиксированном классе. Кроме того, байесовская сеть даёт значительно более калиброванные вероятности (меньший log-loss), что делает её предсказания не только точнее, но и лучше интерпретируемыми.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465</Words>
  <Application>Microsoft Office PowerPoint</Application>
  <PresentationFormat>Экран (16:9)</PresentationFormat>
  <Paragraphs>41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Simple Light</vt:lpstr>
      <vt:lpstr>Лабораторная работа №4: Bayesian Networks датасет: Mushroom Classification</vt:lpstr>
      <vt:lpstr>Bayesian Networks </vt:lpstr>
      <vt:lpstr>Датасет Mushroom Classification</vt:lpstr>
      <vt:lpstr>Загрузка датасета и основная статистика</vt:lpstr>
      <vt:lpstr>Обработка датасета</vt:lpstr>
      <vt:lpstr>Построение Bayesian Network </vt:lpstr>
      <vt:lpstr>Оценка параметров сети</vt:lpstr>
      <vt:lpstr>Примеры таблиц условных вероятностей (CPT) </vt:lpstr>
      <vt:lpstr>Визуализаци сети</vt:lpstr>
      <vt:lpstr>Inference и результаты</vt:lpstr>
      <vt:lpstr>Оценка с Baseline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№4: Bayesian Networks датасет: Mushroom Classification</dc:title>
  <dc:creator>user</dc:creator>
  <cp:lastModifiedBy>user</cp:lastModifiedBy>
  <cp:revision>3</cp:revision>
  <dcterms:modified xsi:type="dcterms:W3CDTF">2025-12-08T18:13:36Z</dcterms:modified>
</cp:coreProperties>
</file>